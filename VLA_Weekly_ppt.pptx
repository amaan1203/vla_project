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Lst>
  <p:sldSz cx="18288000" cy="10287000"/>
  <p:notesSz cx="6858000" cy="9144000"/>
  <p:embeddedFontLst>
    <p:embeddedFont>
      <p:font typeface="Open Sans Light" charset="1" panose="020B0306030504020204"/>
      <p:regular r:id="rId9"/>
    </p:embeddedFont>
    <p:embeddedFont>
      <p:font typeface="Open Sans Bold" charset="1" panose="020B0806030504020204"/>
      <p:regular r:id="rId10"/>
    </p:embeddedFont>
    <p:embeddedFont>
      <p:font typeface="Open Sans" charset="1" panose="020B0606030504020204"/>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4423177" y="8400269"/>
            <a:ext cx="2836123" cy="858031"/>
            <a:chOff x="0" y="0"/>
            <a:chExt cx="3781497" cy="1144042"/>
          </a:xfrm>
        </p:grpSpPr>
        <p:grpSp>
          <p:nvGrpSpPr>
            <p:cNvPr name="Group 3" id="3"/>
            <p:cNvGrpSpPr/>
            <p:nvPr/>
          </p:nvGrpSpPr>
          <p:grpSpPr>
            <a:xfrm rot="0">
              <a:off x="0" y="0"/>
              <a:ext cx="3781497" cy="1144042"/>
              <a:chOff x="0" y="0"/>
              <a:chExt cx="6326142" cy="1913890"/>
            </a:xfrm>
          </p:grpSpPr>
          <p:sp>
            <p:nvSpPr>
              <p:cNvPr name="Freeform 4" id="4"/>
              <p:cNvSpPr/>
              <p:nvPr/>
            </p:nvSpPr>
            <p:spPr>
              <a:xfrm flipH="false" flipV="false" rot="0">
                <a:off x="0" y="0"/>
                <a:ext cx="6326142" cy="1913890"/>
              </a:xfrm>
              <a:custGeom>
                <a:avLst/>
                <a:gdLst/>
                <a:ahLst/>
                <a:cxnLst/>
                <a:rect r="r" b="b" t="t" l="l"/>
                <a:pathLst>
                  <a:path h="1913890" w="6326142">
                    <a:moveTo>
                      <a:pt x="0" y="0"/>
                    </a:moveTo>
                    <a:lnTo>
                      <a:pt x="0" y="1913890"/>
                    </a:lnTo>
                    <a:lnTo>
                      <a:pt x="6326142" y="1913890"/>
                    </a:lnTo>
                    <a:lnTo>
                      <a:pt x="6326142" y="0"/>
                    </a:lnTo>
                    <a:lnTo>
                      <a:pt x="0" y="0"/>
                    </a:lnTo>
                    <a:close/>
                    <a:moveTo>
                      <a:pt x="6265182" y="1852930"/>
                    </a:moveTo>
                    <a:lnTo>
                      <a:pt x="59690" y="1852930"/>
                    </a:lnTo>
                    <a:lnTo>
                      <a:pt x="59690" y="59690"/>
                    </a:lnTo>
                    <a:lnTo>
                      <a:pt x="6265182" y="59690"/>
                    </a:lnTo>
                    <a:lnTo>
                      <a:pt x="6265182" y="1852930"/>
                    </a:lnTo>
                    <a:close/>
                  </a:path>
                </a:pathLst>
              </a:custGeom>
              <a:solidFill>
                <a:srgbClr val="FFFFFF"/>
              </a:solidFill>
            </p:spPr>
          </p:sp>
        </p:grpSp>
        <p:sp>
          <p:nvSpPr>
            <p:cNvPr name="TextBox 5" id="5"/>
            <p:cNvSpPr txBox="true"/>
            <p:nvPr/>
          </p:nvSpPr>
          <p:spPr>
            <a:xfrm rot="0">
              <a:off x="681248" y="399925"/>
              <a:ext cx="2419002" cy="353717"/>
            </a:xfrm>
            <a:prstGeom prst="rect">
              <a:avLst/>
            </a:prstGeom>
          </p:spPr>
          <p:txBody>
            <a:bodyPr anchor="t" rtlCol="false" tIns="0" lIns="0" bIns="0" rIns="0">
              <a:spAutoFit/>
            </a:bodyPr>
            <a:lstStyle/>
            <a:p>
              <a:pPr algn="ctr">
                <a:lnSpc>
                  <a:spcPts val="2157"/>
                </a:lnSpc>
              </a:pPr>
              <a:r>
                <a:rPr lang="en-US" sz="1797">
                  <a:solidFill>
                    <a:srgbClr val="FFFFFF"/>
                  </a:solidFill>
                  <a:latin typeface="Open Sans Light"/>
                  <a:ea typeface="Open Sans Light"/>
                  <a:cs typeface="Open Sans Light"/>
                  <a:sym typeface="Open Sans Light"/>
                </a:rPr>
                <a:t>MARCH 17, 2025</a:t>
              </a:r>
            </a:p>
          </p:txBody>
        </p:sp>
      </p:grpSp>
      <p:sp>
        <p:nvSpPr>
          <p:cNvPr name="TextBox 6" id="6"/>
          <p:cNvSpPr txBox="true"/>
          <p:nvPr/>
        </p:nvSpPr>
        <p:spPr>
          <a:xfrm rot="0">
            <a:off x="1426639" y="1808668"/>
            <a:ext cx="12873041" cy="1533525"/>
          </a:xfrm>
          <a:prstGeom prst="rect">
            <a:avLst/>
          </a:prstGeom>
        </p:spPr>
        <p:txBody>
          <a:bodyPr anchor="t" rtlCol="false" tIns="0" lIns="0" bIns="0" rIns="0">
            <a:spAutoFit/>
          </a:bodyPr>
          <a:lstStyle/>
          <a:p>
            <a:pPr algn="l">
              <a:lnSpc>
                <a:spcPts val="12000"/>
              </a:lnSpc>
            </a:pPr>
            <a:r>
              <a:rPr lang="en-US" sz="10000" spc="-200" b="true">
                <a:solidFill>
                  <a:srgbClr val="191919"/>
                </a:solidFill>
                <a:latin typeface="Open Sans Bold"/>
                <a:ea typeface="Open Sans Bold"/>
                <a:cs typeface="Open Sans Bold"/>
                <a:sym typeface="Open Sans Bold"/>
              </a:rPr>
              <a:t>VLA_Digital_Twin </a:t>
            </a:r>
          </a:p>
        </p:txBody>
      </p:sp>
      <p:sp>
        <p:nvSpPr>
          <p:cNvPr name="TextBox 7" id="7"/>
          <p:cNvSpPr txBox="true"/>
          <p:nvPr/>
        </p:nvSpPr>
        <p:spPr>
          <a:xfrm rot="0">
            <a:off x="1627557" y="5342540"/>
            <a:ext cx="3844603" cy="679450"/>
          </a:xfrm>
          <a:prstGeom prst="rect">
            <a:avLst/>
          </a:prstGeom>
        </p:spPr>
        <p:txBody>
          <a:bodyPr anchor="t" rtlCol="false" tIns="0" lIns="0" bIns="0" rIns="0">
            <a:spAutoFit/>
          </a:bodyPr>
          <a:lstStyle/>
          <a:p>
            <a:pPr algn="ctr">
              <a:lnSpc>
                <a:spcPts val="5599"/>
              </a:lnSpc>
              <a:spcBef>
                <a:spcPct val="0"/>
              </a:spcBef>
            </a:pPr>
            <a:r>
              <a:rPr lang="en-US" sz="3999">
                <a:solidFill>
                  <a:srgbClr val="000000"/>
                </a:solidFill>
                <a:latin typeface="Open Sans"/>
                <a:ea typeface="Open Sans"/>
                <a:cs typeface="Open Sans"/>
                <a:sym typeface="Open Sans"/>
              </a:rPr>
              <a:t>Amaan Siddiqui </a:t>
            </a:r>
          </a:p>
        </p:txBody>
      </p:sp>
      <p:sp>
        <p:nvSpPr>
          <p:cNvPr name="TextBox 8" id="8"/>
          <p:cNvSpPr txBox="true"/>
          <p:nvPr/>
        </p:nvSpPr>
        <p:spPr>
          <a:xfrm rot="0">
            <a:off x="1426639" y="3897916"/>
            <a:ext cx="9374262" cy="863600"/>
          </a:xfrm>
          <a:prstGeom prst="rect">
            <a:avLst/>
          </a:prstGeom>
        </p:spPr>
        <p:txBody>
          <a:bodyPr anchor="t" rtlCol="false" tIns="0" lIns="0" bIns="0" rIns="0">
            <a:spAutoFit/>
          </a:bodyPr>
          <a:lstStyle/>
          <a:p>
            <a:pPr algn="ctr">
              <a:lnSpc>
                <a:spcPts val="7000"/>
              </a:lnSpc>
              <a:spcBef>
                <a:spcPct val="0"/>
              </a:spcBef>
            </a:pPr>
            <a:r>
              <a:rPr lang="en-US" sz="5000">
                <a:solidFill>
                  <a:srgbClr val="000000"/>
                </a:solidFill>
                <a:latin typeface="Open Sans"/>
                <a:ea typeface="Open Sans"/>
                <a:cs typeface="Open Sans"/>
                <a:sym typeface="Open Sans"/>
              </a:rPr>
              <a:t>Weekly Progress -2nd Jan, 2026</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45812" y="1387080"/>
            <a:ext cx="12873041" cy="771525"/>
          </a:xfrm>
          <a:prstGeom prst="rect">
            <a:avLst/>
          </a:prstGeom>
        </p:spPr>
        <p:txBody>
          <a:bodyPr anchor="t" rtlCol="false" tIns="0" lIns="0" bIns="0" rIns="0">
            <a:spAutoFit/>
          </a:bodyPr>
          <a:lstStyle/>
          <a:p>
            <a:pPr algn="l">
              <a:lnSpc>
                <a:spcPts val="6000"/>
              </a:lnSpc>
            </a:pPr>
            <a:r>
              <a:rPr lang="en-US" sz="5000" spc="-100" b="true">
                <a:solidFill>
                  <a:srgbClr val="191919"/>
                </a:solidFill>
                <a:latin typeface="Open Sans Bold"/>
                <a:ea typeface="Open Sans Bold"/>
                <a:cs typeface="Open Sans Bold"/>
                <a:sym typeface="Open Sans Bold"/>
              </a:rPr>
              <a:t>Current Weeks Progress</a:t>
            </a:r>
          </a:p>
        </p:txBody>
      </p:sp>
      <p:sp>
        <p:nvSpPr>
          <p:cNvPr name="TextBox 3" id="3"/>
          <p:cNvSpPr txBox="true"/>
          <p:nvPr/>
        </p:nvSpPr>
        <p:spPr>
          <a:xfrm rot="0">
            <a:off x="1028700" y="2101455"/>
            <a:ext cx="12785717" cy="6991350"/>
          </a:xfrm>
          <a:prstGeom prst="rect">
            <a:avLst/>
          </a:prstGeom>
        </p:spPr>
        <p:txBody>
          <a:bodyPr anchor="t" rtlCol="false" tIns="0" lIns="0" bIns="0" rIns="0">
            <a:spAutoFit/>
          </a:bodyPr>
          <a:lstStyle/>
          <a:p>
            <a:pPr algn="l">
              <a:lnSpc>
                <a:spcPts val="4200"/>
              </a:lnSpc>
            </a:pPr>
          </a:p>
          <a:p>
            <a:pPr algn="l" marL="561341" indent="-280670" lvl="1">
              <a:lnSpc>
                <a:spcPts val="3640"/>
              </a:lnSpc>
              <a:buFont typeface="Arial"/>
              <a:buChar char="•"/>
            </a:pPr>
            <a:r>
              <a:rPr lang="en-US" sz="2600">
                <a:solidFill>
                  <a:srgbClr val="000000"/>
                </a:solidFill>
                <a:latin typeface="Open Sans"/>
                <a:ea typeface="Open Sans"/>
                <a:cs typeface="Open Sans"/>
                <a:sym typeface="Open Sans"/>
              </a:rPr>
              <a:t>Successfully integrated</a:t>
            </a:r>
            <a:r>
              <a:rPr lang="en-US" b="true" sz="2600">
                <a:solidFill>
                  <a:srgbClr val="000000"/>
                </a:solidFill>
                <a:latin typeface="Open Sans Bold"/>
                <a:ea typeface="Open Sans Bold"/>
                <a:cs typeface="Open Sans Bold"/>
                <a:sym typeface="Open Sans Bold"/>
              </a:rPr>
              <a:t> lerobot/smolvla_base</a:t>
            </a:r>
            <a:r>
              <a:rPr lang="en-US" sz="2600">
                <a:solidFill>
                  <a:srgbClr val="000000"/>
                </a:solidFill>
                <a:latin typeface="Open Sans"/>
                <a:ea typeface="Open Sans"/>
                <a:cs typeface="Open Sans"/>
                <a:sym typeface="Open Sans"/>
              </a:rPr>
              <a:t> model from hugging face with a “hybrid PID+VLA” architecture to test pick and place implemented last week using the manual PID controller.</a:t>
            </a:r>
          </a:p>
          <a:p>
            <a:pPr algn="l">
              <a:lnSpc>
                <a:spcPts val="3640"/>
              </a:lnSpc>
            </a:pPr>
          </a:p>
          <a:p>
            <a:pPr algn="l" marL="561341" indent="-280670" lvl="1">
              <a:lnSpc>
                <a:spcPts val="3640"/>
              </a:lnSpc>
              <a:buFont typeface="Arial"/>
              <a:buChar char="•"/>
            </a:pPr>
            <a:r>
              <a:rPr lang="en-US" sz="2600">
                <a:solidFill>
                  <a:srgbClr val="000000"/>
                </a:solidFill>
                <a:latin typeface="Open Sans"/>
                <a:ea typeface="Open Sans"/>
                <a:cs typeface="Open Sans"/>
                <a:sym typeface="Open Sans"/>
              </a:rPr>
              <a:t>Integrated 3 camera feeds (main 640×480, front, gripper chase) with consistent resolution for VLA input, real-time dashboard rendering, and live cube tracking.</a:t>
            </a:r>
          </a:p>
          <a:p>
            <a:pPr algn="l">
              <a:lnSpc>
                <a:spcPts val="3640"/>
              </a:lnSpc>
            </a:pPr>
          </a:p>
          <a:p>
            <a:pPr algn="l" marL="561341" indent="-280670" lvl="1">
              <a:lnSpc>
                <a:spcPts val="3640"/>
              </a:lnSpc>
              <a:buFont typeface="Arial"/>
              <a:buChar char="•"/>
            </a:pPr>
            <a:r>
              <a:rPr lang="en-US" sz="2600">
                <a:solidFill>
                  <a:srgbClr val="000000"/>
                </a:solidFill>
                <a:latin typeface="Open Sans"/>
                <a:ea typeface="Open Sans"/>
                <a:cs typeface="Open Sans"/>
                <a:sym typeface="Open Sans"/>
              </a:rPr>
              <a:t>To solve latency issues tried d</a:t>
            </a:r>
            <a:r>
              <a:rPr lang="en-US" sz="2600">
                <a:solidFill>
                  <a:srgbClr val="000000"/>
                </a:solidFill>
                <a:latin typeface="Open Sans"/>
                <a:ea typeface="Open Sans"/>
                <a:cs typeface="Open Sans"/>
                <a:sym typeface="Open Sans"/>
              </a:rPr>
              <a:t>eveloping a non-blocking VLA inference using Python threading to prevent 100-200ms inference time but still working on it.</a:t>
            </a:r>
          </a:p>
          <a:p>
            <a:pPr algn="l">
              <a:lnSpc>
                <a:spcPts val="3640"/>
              </a:lnSpc>
            </a:pPr>
          </a:p>
          <a:p>
            <a:pPr algn="l" marL="561341" indent="-280670" lvl="1">
              <a:lnSpc>
                <a:spcPts val="3640"/>
              </a:lnSpc>
              <a:buFont typeface="Arial"/>
              <a:buChar char="•"/>
            </a:pPr>
            <a:r>
              <a:rPr lang="en-US" sz="2600">
                <a:solidFill>
                  <a:srgbClr val="000000"/>
                </a:solidFill>
                <a:latin typeface="Open Sans"/>
                <a:ea typeface="Open Sans"/>
                <a:cs typeface="Open Sans"/>
                <a:sym typeface="Open Sans"/>
              </a:rPr>
              <a:t>Currently, </a:t>
            </a:r>
            <a:r>
              <a:rPr lang="en-US" sz="2600">
                <a:solidFill>
                  <a:srgbClr val="000000"/>
                </a:solidFill>
                <a:latin typeface="Open Sans"/>
                <a:ea typeface="Open Sans"/>
                <a:cs typeface="Open Sans"/>
                <a:sym typeface="Open Sans"/>
              </a:rPr>
              <a:t>VLA inference is taking around 2000ms on Apple Silicon MPS (expected: 100-150ms), causing 18+ second sync offset and preventing successful grasp. </a:t>
            </a:r>
          </a:p>
          <a:p>
            <a:pPr algn="l">
              <a:lnSpc>
                <a:spcPts val="420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09866" y="3095472"/>
            <a:ext cx="17878134" cy="3524250"/>
          </a:xfrm>
          <a:prstGeom prst="rect">
            <a:avLst/>
          </a:prstGeom>
        </p:spPr>
        <p:txBody>
          <a:bodyPr anchor="t" rtlCol="false" tIns="0" lIns="0" bIns="0" rIns="0">
            <a:spAutoFit/>
          </a:bodyPr>
          <a:lstStyle/>
          <a:p>
            <a:pPr algn="l" marL="561341" indent="-280670" lvl="1">
              <a:lnSpc>
                <a:spcPts val="3120"/>
              </a:lnSpc>
              <a:buFont typeface="Arial"/>
              <a:buChar char="•"/>
            </a:pPr>
            <a:r>
              <a:rPr lang="en-US" sz="2600">
                <a:solidFill>
                  <a:srgbClr val="000000"/>
                </a:solidFill>
                <a:latin typeface="Open Sans"/>
                <a:ea typeface="Open Sans"/>
                <a:cs typeface="Open Sans"/>
                <a:sym typeface="Open Sans"/>
              </a:rPr>
              <a:t>Migrate to lab GPU workstation, targeting 80-120ms inference time and sync offset reduction from 2,000ms to &lt;50ms for real-time control.</a:t>
            </a:r>
          </a:p>
          <a:p>
            <a:pPr algn="l">
              <a:lnSpc>
                <a:spcPts val="3120"/>
              </a:lnSpc>
            </a:pPr>
          </a:p>
          <a:p>
            <a:pPr algn="l" marL="561341" indent="-280670" lvl="1">
              <a:lnSpc>
                <a:spcPts val="3120"/>
              </a:lnSpc>
              <a:buFont typeface="Arial"/>
              <a:buChar char="•"/>
            </a:pPr>
            <a:r>
              <a:rPr lang="en-US" sz="2600">
                <a:solidFill>
                  <a:srgbClr val="000000"/>
                </a:solidFill>
                <a:latin typeface="Open Sans"/>
                <a:ea typeface="Open Sans"/>
                <a:cs typeface="Open Sans"/>
                <a:sym typeface="Open Sans"/>
              </a:rPr>
              <a:t> Experimenting on either migrating to complete VLA controller or to continue with the hybrid controller approach based on better synchronization results. </a:t>
            </a:r>
          </a:p>
          <a:p>
            <a:pPr algn="l">
              <a:lnSpc>
                <a:spcPts val="3120"/>
              </a:lnSpc>
            </a:pPr>
          </a:p>
          <a:p>
            <a:pPr algn="l" marL="561341" indent="-280670" lvl="1">
              <a:lnSpc>
                <a:spcPts val="3120"/>
              </a:lnSpc>
              <a:buFont typeface="Arial"/>
              <a:buChar char="•"/>
            </a:pPr>
            <a:r>
              <a:rPr lang="en-US" sz="2600">
                <a:solidFill>
                  <a:srgbClr val="000000"/>
                </a:solidFill>
                <a:latin typeface="Open Sans"/>
                <a:ea typeface="Open Sans"/>
                <a:cs typeface="Open Sans"/>
                <a:sym typeface="Open Sans"/>
              </a:rPr>
              <a:t>Try to tune other parameters by experimentation (like the steps after which the vla inference must be called to generate the results, better prompt for VLA etc) to reduce the latency and sync_offset.</a:t>
            </a:r>
          </a:p>
          <a:p>
            <a:pPr algn="l">
              <a:lnSpc>
                <a:spcPts val="3120"/>
              </a:lnSpc>
              <a:spcBef>
                <a:spcPct val="0"/>
              </a:spcBef>
            </a:pPr>
            <a:r>
              <a:rPr lang="en-US" sz="2600">
                <a:solidFill>
                  <a:srgbClr val="000000"/>
                </a:solidFill>
                <a:latin typeface="Open Sans"/>
                <a:ea typeface="Open Sans"/>
                <a:cs typeface="Open Sans"/>
                <a:sym typeface="Open Sans"/>
              </a:rPr>
              <a:t> </a:t>
            </a:r>
          </a:p>
        </p:txBody>
      </p:sp>
      <p:sp>
        <p:nvSpPr>
          <p:cNvPr name="TextBox 3" id="3"/>
          <p:cNvSpPr txBox="true"/>
          <p:nvPr/>
        </p:nvSpPr>
        <p:spPr>
          <a:xfrm rot="0">
            <a:off x="409866" y="1564915"/>
            <a:ext cx="5810947" cy="771525"/>
          </a:xfrm>
          <a:prstGeom prst="rect">
            <a:avLst/>
          </a:prstGeom>
        </p:spPr>
        <p:txBody>
          <a:bodyPr anchor="t" rtlCol="false" tIns="0" lIns="0" bIns="0" rIns="0">
            <a:spAutoFit/>
          </a:bodyPr>
          <a:lstStyle/>
          <a:p>
            <a:pPr algn="ctr">
              <a:lnSpc>
                <a:spcPts val="6000"/>
              </a:lnSpc>
              <a:spcBef>
                <a:spcPct val="0"/>
              </a:spcBef>
            </a:pPr>
            <a:r>
              <a:rPr lang="en-US" b="true" sz="5000">
                <a:solidFill>
                  <a:srgbClr val="000000"/>
                </a:solidFill>
                <a:latin typeface="Open Sans Bold"/>
                <a:ea typeface="Open Sans Bold"/>
                <a:cs typeface="Open Sans Bold"/>
                <a:sym typeface="Open Sans Bold"/>
              </a:rPr>
              <a:t>Next </a:t>
            </a:r>
            <a:r>
              <a:rPr lang="en-US" b="true" sz="5000">
                <a:solidFill>
                  <a:srgbClr val="000000"/>
                </a:solidFill>
                <a:latin typeface="Open Sans Bold"/>
                <a:ea typeface="Open Sans Bold"/>
                <a:cs typeface="Open Sans Bold"/>
                <a:sym typeface="Open Sans Bold"/>
              </a:rPr>
              <a:t>Weeks Goals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DAG9NbOcWZg</dc:identifier>
  <dcterms:modified xsi:type="dcterms:W3CDTF">2011-08-01T06:04:30Z</dcterms:modified>
  <cp:revision>1</cp:revision>
  <dc:title>Our Weekly Updates</dc:title>
</cp:coreProperties>
</file>